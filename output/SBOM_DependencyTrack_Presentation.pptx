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SBOM &amp; Vulnerability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</a:rPr>
              <a:t>Automating Software Composition Analysis with Dependency-Track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6747C"/>
                </a:solidFill>
              </a:rPr>
              <a:t>Know every component. Manage every vulnerability.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00600"/>
            <a:ext cx="2606040" cy="475488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8006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Automated SBOM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4800600"/>
            <a:ext cx="260604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48006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Continuous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800600"/>
            <a:ext cx="260604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8006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Vulnerability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4800600"/>
            <a:ext cx="2606040" cy="47548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480060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Maven Plugin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an SBOM?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8A"/>
                </a:solidFill>
              </a:rPr>
              <a:t>Software Bill of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An SBOM is a formal, machine-readable inventory of every open-source and third-party component included in an application — along with their versions, licences, and supply-chain relationships.
It is the foundation for understanding what your software is made of and identifying where security risks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77639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747C"/>
                </a:solidFill>
              </a:rPr>
              <a:t>An SBOM records:</a:t>
            </a:r>
          </a:p>
          <a:p>
            <a:r>
              <a:rPr sz="1400">
                <a:solidFill>
                  <a:srgbClr val="0F172A"/>
                </a:solidFill>
              </a:rPr>
              <a:t>▸ Component name &amp; version</a:t>
            </a:r>
          </a:p>
          <a:p>
            <a:r>
              <a:rPr sz="1400">
                <a:solidFill>
                  <a:srgbClr val="0F172A"/>
                </a:solidFill>
              </a:rPr>
              <a:t>▸ Package supplier / origin</a:t>
            </a:r>
          </a:p>
          <a:p>
            <a:r>
              <a:rPr sz="1400">
                <a:solidFill>
                  <a:srgbClr val="0F172A"/>
                </a:solidFill>
              </a:rPr>
              <a:t>▸ Dependency relationships</a:t>
            </a:r>
          </a:p>
          <a:p>
            <a:r>
              <a:rPr sz="1400">
                <a:solidFill>
                  <a:srgbClr val="0F172A"/>
                </a:solidFill>
              </a:rPr>
              <a:t>▸ Licence identifiers (SPDX)</a:t>
            </a:r>
          </a:p>
          <a:p>
            <a:r>
              <a:rPr sz="1400">
                <a:solidFill>
                  <a:srgbClr val="0F172A"/>
                </a:solidFill>
              </a:rPr>
              <a:t>▸ Known vulnerability references (CVEs)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960120"/>
            <a:ext cx="6035040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0515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CycloneDX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50876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CycloneDX is an OWASP standard for SBOMs. It is natively supported by Dependency-Track, cdxgen, and the CycloneDX Maven / Gradle plugins.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429000"/>
            <a:ext cx="6035040" cy="283464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520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Why do SBOMs matter?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02336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✓  Visibility into ALL transitive dependencies</a:t>
            </a:r>
          </a:p>
          <a:p>
            <a:r>
              <a:rPr sz="1400">
                <a:solidFill>
                  <a:srgbClr val="FFFFFF"/>
                </a:solidFill>
              </a:rPr>
              <a:t>✓  Rapid impact assessment when a new CVE drops</a:t>
            </a:r>
          </a:p>
          <a:p>
            <a:r>
              <a:rPr sz="1400">
                <a:solidFill>
                  <a:srgbClr val="FFFFFF"/>
                </a:solidFill>
              </a:rPr>
              <a:t>✓  Licence compliance &amp; open-source governance</a:t>
            </a:r>
          </a:p>
          <a:p>
            <a:r>
              <a:rPr sz="1400">
                <a:solidFill>
                  <a:srgbClr val="FFFFFF"/>
                </a:solidFill>
              </a:rPr>
              <a:t>✓  Supply-chain security &amp;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SBOMs Are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Two complementary approaches — both feed directly into Dependency-Track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5778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57784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cdxgen  —  Any Language /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▸ Polyglot support: Java, Node.js, Python, .NET, Go, Ruby …</a:t>
            </a:r>
          </a:p>
          <a:p>
            <a:r>
              <a:rPr sz="1400">
                <a:solidFill>
                  <a:srgbClr val="0F172A"/>
                </a:solidFill>
              </a:rPr>
              <a:t>▸ Scans the source tree and lock files automatically</a:t>
            </a:r>
          </a:p>
          <a:p>
            <a:r>
              <a:rPr sz="1400">
                <a:solidFill>
                  <a:srgbClr val="0F172A"/>
                </a:solidFill>
              </a:rPr>
              <a:t>▸ Runs as a Jenkins pipeline step via the cdxgenRepo() shared library call</a:t>
            </a:r>
          </a:p>
          <a:p>
            <a:r>
              <a:rPr sz="1400">
                <a:solidFill>
                  <a:srgbClr val="0F172A"/>
                </a:solidFill>
              </a:rPr>
              <a:t>▸ Produces a CycloneDX JSON SBOM in one command</a:t>
            </a:r>
          </a:p>
          <a:p>
            <a:r>
              <a:rPr sz="1400">
                <a:solidFill>
                  <a:srgbClr val="0F172A"/>
                </a:solidFill>
              </a:rPr>
              <a:t>▸ No changes needed to the target repository</a:t>
            </a:r>
          </a:p>
          <a:p>
            <a:r>
              <a:rPr sz="1400">
                <a:solidFill>
                  <a:srgbClr val="0F172A"/>
                </a:solidFill>
              </a:rPr>
              <a:t>▸ Supports pinned versions for reproducible builds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778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50292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CycloneDX Maven Plugin  —  In-House Java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▸ Added directly to pom.xml — no extra tooling required</a:t>
            </a:r>
          </a:p>
          <a:p>
            <a:r>
              <a:rPr sz="1400">
                <a:solidFill>
                  <a:srgbClr val="0F172A"/>
                </a:solidFill>
              </a:rPr>
              <a:t>▸ Runs during the standard Maven build lifecycle</a:t>
            </a:r>
          </a:p>
          <a:p>
            <a:r>
              <a:rPr sz="1400">
                <a:solidFill>
                  <a:srgbClr val="0F172A"/>
                </a:solidFill>
              </a:rPr>
              <a:t>▸ Generates a precise SBOM reflecting the exact resolved dependency tree</a:t>
            </a:r>
          </a:p>
          <a:p>
            <a:r>
              <a:rPr sz="1400">
                <a:solidFill>
                  <a:srgbClr val="0F172A"/>
                </a:solidFill>
              </a:rPr>
              <a:t>▸ Uploads the SBOM to Dependency-Track automatically at build time</a:t>
            </a:r>
          </a:p>
          <a:p>
            <a:r>
              <a:rPr sz="1400">
                <a:solidFill>
                  <a:srgbClr val="0F172A"/>
                </a:solidFill>
              </a:rPr>
              <a:t>▸ Keeps vulnerability data current with every CI build</a:t>
            </a:r>
          </a:p>
          <a:p>
            <a:r>
              <a:rPr sz="1400">
                <a:solidFill>
                  <a:srgbClr val="0F172A"/>
                </a:solidFill>
              </a:rPr>
              <a:t>▸ Developers get instant feedback on new vulnerabilities introduced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6747C"/>
                </a:solidFill>
              </a:rPr>
              <a:t>Both routes → uploadSBOM() → Dependency-Track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Maven Plugin — In-House Code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Add the CycloneDX Maven plugin to your pom.xml and your SBOM is generated and published to Dependency-Track on every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669280" cy="4846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47C"/>
                </a:solidFill>
              </a:rPr>
              <a:t>pom.xml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&lt;plugin&gt;
  &lt;groupId&gt;org.cyclonedx&lt;/groupId&gt;
  &lt;artifactId&gt;
    cyclonedx-maven-plugin
  &lt;/artifactId&gt;
  &lt;version&gt;2.9.1&lt;/version&gt;
  &lt;executions&gt;
    &lt;execution&gt;
      &lt;phase&gt;package&lt;/phase&gt;
      &lt;goals&gt;
        &lt;goal&gt;makeAggregateBom&lt;/goal&gt;
      &lt;/goals&gt;
    &lt;/execution&gt;
  &lt;/executions&gt;
  &lt;configuration&gt;
    &lt;outputFormat&gt;json&lt;/outputFormat&gt;
    &lt;outputName&gt;sbom&lt;/outputName&gt;
  &lt;/configuration&gt;
&lt;/plugin&gt;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66928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What this gives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✓  Zero manual steps — SBOM published on every mvn package</a:t>
            </a:r>
          </a:p>
          <a:p>
            <a:r>
              <a:rPr sz="1300">
                <a:solidFill>
                  <a:srgbClr val="FFFFFF"/>
                </a:solidFill>
              </a:rPr>
              <a:t>✓  Vulnerability status visible in DT the moment the build lands</a:t>
            </a:r>
          </a:p>
          <a:p>
            <a:r>
              <a:rPr sz="1300">
                <a:solidFill>
                  <a:srgbClr val="FFFFFF"/>
                </a:solidFill>
              </a:rPr>
              <a:t>✓  Policy violations surface in the CI pipeline, not weeks later</a:t>
            </a:r>
          </a:p>
          <a:p>
            <a:r>
              <a:rPr sz="1300">
                <a:solidFill>
                  <a:srgbClr val="FFFFFF"/>
                </a:solidFill>
              </a:rPr>
              <a:t>✓  Full transitive dependency tree — nothing hidden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669280" cy="256032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4903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Pipeline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062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1.  Developer pushes code</a:t>
            </a:r>
          </a:p>
          <a:p>
            <a:r>
              <a:rPr sz="1200">
                <a:solidFill>
                  <a:srgbClr val="FFFFFF"/>
                </a:solidFill>
              </a:rPr>
              <a:t>2.  Jenkins triggers Maven build</a:t>
            </a:r>
          </a:p>
          <a:p>
            <a:r>
              <a:rPr sz="1200">
                <a:solidFill>
                  <a:srgbClr val="FFFFFF"/>
                </a:solidFill>
              </a:rPr>
              <a:t>3.  cyclonedx-maven-plugin generates sbom.json</a:t>
            </a:r>
          </a:p>
          <a:p>
            <a:r>
              <a:rPr sz="1200">
                <a:solidFill>
                  <a:srgbClr val="FFFFFF"/>
                </a:solidFill>
              </a:rPr>
              <a:t>4.  uploadSBOM() posts SBOM to Dependency-Track</a:t>
            </a:r>
          </a:p>
          <a:p>
            <a:r>
              <a:rPr sz="1200">
                <a:solidFill>
                  <a:srgbClr val="FFFFFF"/>
                </a:solidFill>
              </a:rPr>
              <a:t>5.  DT enriches with NVD / OSV / GitHub Advisory data</a:t>
            </a:r>
          </a:p>
          <a:p>
            <a:r>
              <a:rPr sz="1200">
                <a:solidFill>
                  <a:srgbClr val="FFFFFF"/>
                </a:solidFill>
              </a:rPr>
              <a:t>6.  Vulnerabilities visible immediately in DT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Dependency-Track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Dependency-Track is an OWASP flagship platform that ingests SBOMs and continuously monitors every component for new vulnerabilities.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834640" cy="1463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45920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Continuous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2140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Checks every component against NVD, OSV, GitHub Advisory, and Sonatype OSS Index automatically — no manual CVE searches.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3" y="1554480"/>
            <a:ext cx="2834640" cy="146304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1645920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1" y="212140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Define licence policies, severity thresholds, and component allow/block lists. Violations are surfaced instantly.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554480"/>
            <a:ext cx="283464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5" y="1645920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Portfolio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5" y="212140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Group projects into collections. See aggregate risk across an entire product portfolio at a glance.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17152" y="1554480"/>
            <a:ext cx="2834640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REST API &amp;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2140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Fully headless via REST API. Integrates with Jenkins, GitHub Actions, Slack notifications, and JIRA ticketing.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11612880" cy="2926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1161288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29184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Dependency-Track — Project Portfolio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271576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730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703320"/>
            <a:ext cx="125272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39" y="373075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3703320"/>
            <a:ext cx="97840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730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19" y="3703320"/>
            <a:ext cx="97840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39" y="3730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3703320"/>
            <a:ext cx="97840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3730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199" y="3703320"/>
            <a:ext cx="97840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19" y="3730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39" y="3703320"/>
            <a:ext cx="116128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59" y="37307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59" y="3703320"/>
            <a:ext cx="1435608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3730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Last BOM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114800"/>
            <a:ext cx="27157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1422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my-billing-service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4114800"/>
            <a:ext cx="125272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39" y="414223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2.4.1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79" y="4114800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399" y="41422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19" y="4114800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39" y="41422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4114800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79" y="41422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199" y="4114800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41422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39" y="4114800"/>
            <a:ext cx="116128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59" y="4142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4.2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59" y="4114800"/>
            <a:ext cx="14356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4142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Today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498848"/>
            <a:ext cx="271576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526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customer-api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4498848"/>
            <a:ext cx="125272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63239" y="452628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1.8.0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79" y="4498848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399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A06"/>
                </a:solidFill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19" y="4498848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39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59" y="4498848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79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A06"/>
                </a:solidFill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199" y="4498848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60919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A06"/>
                </a:solidFill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39" y="4498848"/>
            <a:ext cx="116128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59" y="4526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7.8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759" y="4498848"/>
            <a:ext cx="14356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5548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Today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882896"/>
            <a:ext cx="271576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4910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reporting-engine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882896"/>
            <a:ext cx="125272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63239" y="491032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3.1.2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79" y="4882896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43399" y="4910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03519" y="4882896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9239" y="4910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A06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59" y="4882896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55079" y="4910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199" y="4882896"/>
            <a:ext cx="9784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60919" y="4910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</a:rP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39" y="4882896"/>
            <a:ext cx="116128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66759" y="4910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2.1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09759" y="4882896"/>
            <a:ext cx="14356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55480" y="4910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Yesterday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266944"/>
            <a:ext cx="271576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5294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auth-service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17520" y="5266944"/>
            <a:ext cx="125272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63239" y="5294376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1.2.0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7679" y="5266944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3399" y="52943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03519" y="5266944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49239" y="52943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59" y="5266944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55079" y="52943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199" y="5266944"/>
            <a:ext cx="9784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60919" y="52943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39" y="5266944"/>
            <a:ext cx="116128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66759" y="5294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9.1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509759" y="5266944"/>
            <a:ext cx="1435608" cy="365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555480" y="5294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Detection Tools &amp; Vulnerability Intelligence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The pipeline combines best-in-class SBOM generators with Dependency-Track's multi-source vulnerability intelligence to achieve comprehensive coverage.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53312"/>
            <a:ext cx="562356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5623560" cy="40233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399032"/>
            <a:ext cx="5367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SBOM Generation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1901952"/>
            <a:ext cx="164592" cy="7132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9384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cdxgen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85416"/>
            <a:ext cx="51114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Polyglot — Java, Node.js, Python, Go, .NET, Ruby &amp; more.
Runs as a Docker container; no host install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2798064"/>
            <a:ext cx="164592" cy="713232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25496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47C"/>
                </a:solidFill>
              </a:rPr>
              <a:t>CycloneDX Maven 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81528"/>
            <a:ext cx="51114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Embedded in pom.xml; runs at mvn package phase.
Generates a precise resolved-dependency-tree SBOM.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3694176"/>
            <a:ext cx="16459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21608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Syft  (Anchore)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77640"/>
            <a:ext cx="51114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Scans Docker image layers to produce a container SBOM.
Used via the syftImage() Jenkins shared-library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4590288"/>
            <a:ext cx="164592" cy="71323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617720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A06"/>
                </a:solidFill>
              </a:rPr>
              <a:t>Grype  (Anchore)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873752"/>
            <a:ext cx="51114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Vulnerability scanner that consumes a Syft/cdxgen SBOM.
Used via the grypeScan() step for pre-upload triage.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5486400"/>
            <a:ext cx="164592" cy="7132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513832"/>
            <a:ext cx="5111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</a:rPr>
              <a:t>CycloneDX Gradle / Node / .NET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69864"/>
            <a:ext cx="51114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Ecosystem-specific plugins that mirror the Maven plugin's
approach for Gradle, npm, and .NET SDK projects.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53312"/>
            <a:ext cx="576072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353312"/>
            <a:ext cx="5760720" cy="402336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399032"/>
            <a:ext cx="5504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Vulnerability Intelligence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1847088"/>
            <a:ext cx="5504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Dependency-Track queries these feeds automatically — no manual CVE searching: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2231136"/>
            <a:ext cx="164592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258568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</a:rPr>
              <a:t>NVD — National Vulnerability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514600"/>
            <a:ext cx="52486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NIST canonical CVE registry with CVSS v2/v3/v4 scores.
The primary authoritative source for all CVEs.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3099815"/>
            <a:ext cx="164592" cy="68580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127247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A06"/>
                </a:solidFill>
              </a:rPr>
              <a:t>OSV — Open Source Vulnerabilities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383279"/>
            <a:ext cx="52486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Google's open database covering PyPI, npm, Maven, Go,
Ruby gems, Cargo, and more.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3968496"/>
            <a:ext cx="164592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995928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GitHub Advisory 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251960"/>
            <a:ext cx="52486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Curated advisories tied directly to GitHub-hosted packages.
Highly accurate package-URL matching.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4837175"/>
            <a:ext cx="164592" cy="685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864607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</a:rPr>
              <a:t>Sonatype OSS Index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5120639"/>
            <a:ext cx="52486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Component intelligence focused on Maven Central and npm.
Includes licence and ecosystem data.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5705856"/>
            <a:ext cx="16459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5733288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VulnDB  (optional commercial)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5989320"/>
            <a:ext cx="52486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Broader coverage than NVD with earlier disclosure.
Configurable as an additional feed in DT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Dependency-Track — User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Real Dependency-Track UI — portfolio dashboard, project collection view, and vulnerability findings list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2212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538728"/>
            <a:ext cx="116128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566160"/>
            <a:ext cx="11466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Portfolio Dashboard</a:t>
            </a:r>
          </a:p>
        </p:txBody>
      </p:sp>
      <p:pic>
        <p:nvPicPr>
          <p:cNvPr id="11" name="Picture 10" descr="collection-projects-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77639"/>
            <a:ext cx="5760720" cy="23042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6281927"/>
            <a:ext cx="576072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6309359"/>
            <a:ext cx="5614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Collection Project</a:t>
            </a:r>
          </a:p>
        </p:txBody>
      </p:sp>
      <p:pic>
        <p:nvPicPr>
          <p:cNvPr id="14" name="Picture 13" descr="vulnerabil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977639"/>
            <a:ext cx="5733288" cy="23042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3912" y="6281927"/>
            <a:ext cx="5733288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6309359"/>
            <a:ext cx="55869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Vulnerability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Managing Vulnerabilities —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Dependency-Track surfaces every finding. Your team then triages, analyses, and resolves each one — all recorded within the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22402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536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Ingest SBOM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65960"/>
            <a:ext cx="2240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208483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SBOM uploaded via Jenkins pipeline. DT resolves all components and enriches with CVE data from multiple advisories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8608" y="1463040"/>
            <a:ext cx="2240280" cy="475488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536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Review 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1965960"/>
            <a:ext cx="2240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057400"/>
            <a:ext cx="208483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Open the project in DT. Findings are listed by severity — Critical, High, Medium, Low — with CVE details and CVSS scores.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28616" y="1463040"/>
            <a:ext cx="2240280" cy="475488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1536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Triage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28616" y="1965960"/>
            <a:ext cx="2240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6" y="2057400"/>
            <a:ext cx="208483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Decide the appropriate action for each finding: Escalate to the engineering team, suppress, or mark as not affected.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3" y="1463040"/>
            <a:ext cx="224028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1536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Record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3" y="1965960"/>
            <a:ext cx="2240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3" y="2057400"/>
            <a:ext cx="208483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Document your analysis inside DT: add comments, set the analysis state, and optionally suppress the finding.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28632" y="1463040"/>
            <a:ext cx="2240280" cy="47548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1536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Remediate &amp; Re-scan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8632" y="1965960"/>
            <a:ext cx="2240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2057400"/>
            <a:ext cx="2084831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Engineering upgrades the dependency. The next pipeline run re-uploads the SBOM and the finding disappears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251960"/>
            <a:ext cx="11658600" cy="19019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4251960"/>
            <a:ext cx="1165860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793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Dependency-Track — Findings tab for a project (screenshot)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645152"/>
            <a:ext cx="11658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6817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CVE-2021-44228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6817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log4j-core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68172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2.14.1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68172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CRITICAL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6817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10.0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68172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Remote Code Execution via JNDI lookup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074920"/>
            <a:ext cx="11658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5111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CVE-2022-42003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1114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jackson-databind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1114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2.13.0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1114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A06"/>
                </a:solidFill>
              </a:rPr>
              <a:t>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1114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7.5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511149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Uncontrolled resource consumption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5504688"/>
            <a:ext cx="11658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541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CVE-2023-20863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55412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spring-expression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54126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5.3.25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54126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8A04"/>
                </a:solidFill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5412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5.9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4126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Regular expression denial of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Vulnerability Analysis — Comments, Suppression &amp;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Every finding in Dependency-Track can be analysed, commented on, and formally recorded — creating an audit trail of your security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64922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649224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Analysis Panel — CVE-2021-44228 / log4j-core 2.14.1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38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Analysis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67712"/>
            <a:ext cx="2743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3042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</a:rPr>
              <a:t>▼  NOT_AFFECTED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614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Justification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90672"/>
            <a:ext cx="2743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127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▼  PROTECTED_BY_MITIGATING_CONTROL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5844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Suppressed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3602736"/>
            <a:ext cx="594360" cy="2560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6027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995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Analyst Comment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25112"/>
            <a:ext cx="6172200" cy="1600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16552"/>
            <a:ext cx="6035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Reviewed 2025-01-15 by J. Smith.
Our deployment uses the JNDI lookup feature is disabled via log4j2.formatMsgNoLookups=true JVM flag set at container startup. Confirmed with DevOps — the attack vector is mitigated. Tracking upgrade to log4j 2.17.1 in Q1 sprint board (JIRA-4821).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1417320"/>
            <a:ext cx="48920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</a:rPr>
              <a:t>Available Analysis States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993392"/>
            <a:ext cx="1920240" cy="320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011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NOT_AFFECTED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9933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The component is present but the vulnerability does not apply to this deployment context.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2880360"/>
            <a:ext cx="1920240" cy="32004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8986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IN_TRIAGE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880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The finding is being actively investigated. Interim state until a final decision is made.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767328"/>
            <a:ext cx="1920240" cy="3200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7856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EXPLOITABLE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76732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Confirmed — the vulnerability is present and exploitable. Immediate remediation required.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4654296"/>
            <a:ext cx="192024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6725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RESOLVED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654296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The dependency has been upgraded and the vulnerability is no longer present in the component inventory.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5541264"/>
            <a:ext cx="192024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55595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FALSE_POSITIVE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541264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The vulnerability does not apply — typically because the affected code path is never invoked.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Dependency-Track — Auditing a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The audit panel lets analysts set the analysis state, record a justification, add comments, and suppress the finding — all with a full audit trail.</a:t>
            </a:r>
          </a:p>
        </p:txBody>
      </p:sp>
      <p:pic>
        <p:nvPicPr>
          <p:cNvPr id="8" name="Picture 7" descr="audit-finding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50017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6327648"/>
            <a:ext cx="116128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355080"/>
            <a:ext cx="11466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 Finding — Analysis Panel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Suppression — Hiding Accepted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When a finding is accepted or not applicable, it can be suppressed so it no longer inflates your vulnerability counts — but it is never deleted.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669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</a:rPr>
              <a:t>How suppression works</a:t>
            </a:r>
          </a:p>
          <a:p>
            <a:r>
              <a:rPr sz="1400">
                <a:solidFill>
                  <a:srgbClr val="0F172A"/>
                </a:solidFill>
              </a:rPr>
              <a:t>▸ Suppressed findings are hidden from the default dashboard view</a:t>
            </a:r>
          </a:p>
          <a:p>
            <a:r>
              <a:rPr sz="1400">
                <a:solidFill>
                  <a:srgbClr val="0F172A"/>
                </a:solidFill>
              </a:rPr>
              <a:t>▸ They remain fully searchable and visible with the 'Show suppressed' filter</a:t>
            </a:r>
          </a:p>
          <a:p>
            <a:r>
              <a:rPr sz="1400">
                <a:solidFill>
                  <a:srgbClr val="0F172A"/>
                </a:solidFill>
              </a:rPr>
              <a:t>▸ The original CVE details, CVSS score, and analyst notes are preserved</a:t>
            </a:r>
          </a:p>
          <a:p>
            <a:r>
              <a:rPr sz="1400">
                <a:solidFill>
                  <a:srgbClr val="0F172A"/>
                </a:solidFill>
              </a:rPr>
              <a:t>▸ Suppression can be revoked at any time — full reversibility</a:t>
            </a:r>
          </a:p>
          <a:p>
            <a:r>
              <a:rPr sz="1400">
                <a:solidFill>
                  <a:srgbClr val="0F172A"/>
                </a:solidFill>
              </a:rPr>
              <a:t>▸ Suppressed findings are still exported in the vulnerability PDF report</a:t>
            </a:r>
          </a:p>
          <a:p>
            <a:r>
              <a:rPr sz="1400">
                <a:solidFill>
                  <a:srgbClr val="0F172A"/>
                </a:solidFill>
              </a:rPr>
              <a:t>▸ Audit trail records who suppressed a finding and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669280" cy="4114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361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When should you suppress?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✓  The vulnerability is in a library path that is never executed</a:t>
            </a:r>
          </a:p>
          <a:p>
            <a:r>
              <a:rPr sz="1400">
                <a:solidFill>
                  <a:srgbClr val="FFFFFF"/>
                </a:solidFill>
              </a:rPr>
              <a:t>✓  A mitigating control is already in place (WAF rule, JVM flag, etc.)</a:t>
            </a:r>
          </a:p>
          <a:p>
            <a:r>
              <a:rPr sz="1400">
                <a:solidFill>
                  <a:srgbClr val="FFFFFF"/>
                </a:solidFill>
              </a:rPr>
              <a:t>✓  You have accepted the risk and documented why</a:t>
            </a:r>
          </a:p>
          <a:p>
            <a:r>
              <a:rPr sz="1400">
                <a:solidFill>
                  <a:srgbClr val="FFFFFF"/>
                </a:solidFill>
              </a:rPr>
              <a:t>✓  The finding is a confirmed false positive</a:t>
            </a:r>
          </a:p>
          <a:p>
            <a:r>
              <a:rPr sz="1400">
                <a:solidFill>
                  <a:srgbClr val="FFFFFF"/>
                </a:solidFill>
              </a:rPr>
              <a:t>✓  A fix is not yet available and the risk is formally accepted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650992"/>
            <a:ext cx="11612880" cy="47548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69671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A06"/>
                </a:solidFill>
              </a:rPr>
              <a:t>⚠  Suppression is not remediation — always pair suppression with a documented justification and a remediation timeline where applicable.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Automated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Jenkins pipelines generate shareable PDF reports from live Dependency-Track data — no manual export steps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778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577840" cy="4114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630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Security Analysis (Vulnerability)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20240"/>
            <a:ext cx="5349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▸ One report per project or across all projects</a:t>
            </a:r>
          </a:p>
          <a:p>
            <a:r>
              <a:rPr sz="1300">
                <a:solidFill>
                  <a:srgbClr val="0F172A"/>
                </a:solidFill>
              </a:rPr>
              <a:t>▸ Executive summary: Critical / High / Medium / Low counts</a:t>
            </a:r>
          </a:p>
          <a:p>
            <a:r>
              <a:rPr sz="1300">
                <a:solidFill>
                  <a:srgbClr val="0F172A"/>
                </a:solidFill>
              </a:rPr>
              <a:t>▸ Overall risk level: CRITICAL / HIGH / MODERATE / LOW</a:t>
            </a:r>
          </a:p>
          <a:p>
            <a:r>
              <a:rPr sz="1300">
                <a:solidFill>
                  <a:srgbClr val="0F172A"/>
                </a:solidFill>
              </a:rPr>
              <a:t>▸ Per-vulnerability detail: CVE ID, component, version, CVSS score</a:t>
            </a:r>
          </a:p>
          <a:p>
            <a:r>
              <a:rPr sz="1300">
                <a:solidFill>
                  <a:srgbClr val="0F172A"/>
                </a:solidFill>
              </a:rPr>
              <a:t>▸ Analyst comments and suppression status included</a:t>
            </a:r>
          </a:p>
          <a:p>
            <a:r>
              <a:rPr sz="1300">
                <a:solidFill>
                  <a:srgbClr val="0F172A"/>
                </a:solidFill>
              </a:rPr>
              <a:t>▸ Landscape A4 PDF — ready to share with management or auditors</a:t>
            </a:r>
          </a:p>
          <a:p>
            <a:r>
              <a:rPr sz="1300">
                <a:solidFill>
                  <a:srgbClr val="0F172A"/>
                </a:solidFill>
              </a:rPr>
              <a:t>▸ Auto-archived as a Jenkins build artefact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5778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577840" cy="41148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SBOM Component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53492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▸ Full component inventory: name, version, supplier, licence</a:t>
            </a:r>
          </a:p>
          <a:p>
            <a:r>
              <a:rPr sz="1300">
                <a:solidFill>
                  <a:srgbClr val="0F172A"/>
                </a:solidFill>
              </a:rPr>
              <a:t>▸ Supports single project or all active projects</a:t>
            </a:r>
          </a:p>
          <a:p>
            <a:r>
              <a:rPr sz="1300">
                <a:solidFill>
                  <a:srgbClr val="0F172A"/>
                </a:solidFill>
              </a:rPr>
              <a:t>▸ Collection projects produce merged reports across all children</a:t>
            </a:r>
          </a:p>
          <a:p>
            <a:r>
              <a:rPr sz="1300">
                <a:solidFill>
                  <a:srgbClr val="0F172A"/>
                </a:solidFill>
              </a:rPr>
              <a:t>▸ Useful for licence compliance audits</a:t>
            </a:r>
          </a:p>
          <a:p>
            <a:r>
              <a:rPr sz="1300">
                <a:solidFill>
                  <a:srgbClr val="0F172A"/>
                </a:solidFill>
              </a:rPr>
              <a:t>▸ Identifies components with missing or restrictive licences</a:t>
            </a:r>
          </a:p>
          <a:p>
            <a:r>
              <a:rPr sz="1300">
                <a:solidFill>
                  <a:srgbClr val="0F172A"/>
                </a:solidFill>
              </a:rPr>
              <a:t>▸ Landscape A4 PDF — consistent, branded format</a:t>
            </a:r>
          </a:p>
          <a:p>
            <a:r>
              <a:rPr sz="1300">
                <a:solidFill>
                  <a:srgbClr val="0F172A"/>
                </a:solidFill>
              </a:rPr>
              <a:t>▸ Auto-archived as a Jenkins build artefact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Example — Security Analysis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612880" cy="5669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1161288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24128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Security Analysis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customer-api  v1.8.0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240280"/>
            <a:ext cx="2103120" cy="594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103120" cy="59436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240280"/>
            <a:ext cx="2103120" cy="5943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240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2240280"/>
            <a:ext cx="2103120" cy="594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2240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240280"/>
            <a:ext cx="2011680" cy="594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RISK: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35808"/>
            <a:ext cx="171907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3063240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CVE 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79" y="3035808"/>
            <a:ext cx="199339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48255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3035808"/>
            <a:ext cx="98755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9936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035808"/>
            <a:ext cx="98755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3063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35808"/>
            <a:ext cx="66751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71616" y="3063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035808"/>
            <a:ext cx="144475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57416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Analysis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035808"/>
            <a:ext cx="359359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5" y="306324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01568"/>
            <a:ext cx="17190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" y="342900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CVE-2021-44228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79" y="3401568"/>
            <a:ext cx="199339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48255" y="34290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log4j-core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3401568"/>
            <a:ext cx="987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59936" y="34290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2.14.1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3401568"/>
            <a:ext cx="987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65776" y="34290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CRITICAL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401568"/>
            <a:ext cx="667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71616" y="342900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10.0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01568"/>
            <a:ext cx="14447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57416" y="34290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03D"/>
                </a:solidFill>
              </a:rPr>
              <a:t>NOT_AFFECTED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3401568"/>
            <a:ext cx="359359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0455" y="342900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JNDI disabled via JVM flag — mitigated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767328"/>
            <a:ext cx="171907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" y="379476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CVE-2022-42003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79" y="3767328"/>
            <a:ext cx="19933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48255" y="3794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jackson-databind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3767328"/>
            <a:ext cx="9875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59936" y="3794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2.13.0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0" y="3767328"/>
            <a:ext cx="9875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65776" y="3794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A06"/>
                </a:solidFill>
              </a:rPr>
              <a:t>HIGH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3767328"/>
            <a:ext cx="66751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71616" y="379476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7.5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840" y="3767328"/>
            <a:ext cx="14447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57416" y="37947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A06"/>
                </a:solidFill>
              </a:rPr>
              <a:t>IN_TRIAGE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3767328"/>
            <a:ext cx="3593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0455" y="37947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Resource consumption — under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133088"/>
            <a:ext cx="17190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" y="416052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CVE-2023-20863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79" y="4133088"/>
            <a:ext cx="199339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48255" y="4160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spring-expression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23360" y="4133088"/>
            <a:ext cx="987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936" y="41605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5.3.25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0" y="4133088"/>
            <a:ext cx="987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65776" y="41605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A06"/>
                </a:solidFill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4133088"/>
            <a:ext cx="667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71616" y="416052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6.5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20840" y="4133088"/>
            <a:ext cx="14447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57416" y="4160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A06"/>
                </a:solidFill>
              </a:rPr>
              <a:t>IN_TRIAGE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83879" y="4133088"/>
            <a:ext cx="359359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0455" y="416052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ReDoS — investigating impact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4498848"/>
            <a:ext cx="171907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" y="452628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CVE-2022-45868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11679" y="4498848"/>
            <a:ext cx="19933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48255" y="4526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h2database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23360" y="4498848"/>
            <a:ext cx="9875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59936" y="45262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2.1.210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4498848"/>
            <a:ext cx="9875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65776" y="45262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A06"/>
                </a:solidFill>
              </a:rPr>
              <a:t>HIGH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35040" y="4498848"/>
            <a:ext cx="66751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71616" y="452628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7.8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20840" y="4498848"/>
            <a:ext cx="14447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57416" y="45262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</a:rPr>
              <a:t>EXPLOITABLE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83879" y="4498848"/>
            <a:ext cx="3593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20455" y="452628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Upgrade to 2.2.x scheduled sprint 14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864608"/>
            <a:ext cx="17190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" y="489204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CVE-2023-34042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11679" y="4864608"/>
            <a:ext cx="199339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48255" y="48920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spring-security-web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23360" y="4864608"/>
            <a:ext cx="987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059936" y="48920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5.7.5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0" y="4864608"/>
            <a:ext cx="987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65776" y="48920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8A04"/>
                </a:solidFill>
              </a:rPr>
              <a:t>MEDIUM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35040" y="4864608"/>
            <a:ext cx="66751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071616" y="489204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5.3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20840" y="4864608"/>
            <a:ext cx="14447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57416" y="48920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FALSE_POSITIVE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83879" y="4864608"/>
            <a:ext cx="359359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20455" y="489204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Unused endpoint — confirmed FP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5230368"/>
            <a:ext cx="171907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525780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CVE-2023-20861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11679" y="5230368"/>
            <a:ext cx="19933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048255" y="5257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spring-expression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23360" y="5230368"/>
            <a:ext cx="9875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59936" y="5257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5.3.25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0" y="5230368"/>
            <a:ext cx="9875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65776" y="5257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A8A04"/>
                </a:solidFill>
              </a:rPr>
              <a:t>MEDIUM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35040" y="5230368"/>
            <a:ext cx="66751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71616" y="525780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5.9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720840" y="5230368"/>
            <a:ext cx="144475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57416" y="5257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RESOLVED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83879" y="5230368"/>
            <a:ext cx="3593592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20455" y="525780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Upgraded to 6.0.8 in PR #441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Example — SBOM Component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612880" cy="91440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SBOM Component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</a:rPr>
              <a:t>my-billing-service  v2.4.1  |  Generated 2025-04-22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219456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20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58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920240"/>
            <a:ext cx="2194560" cy="640080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1920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258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Direct Dependencies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1920240"/>
            <a:ext cx="219456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920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258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Transitive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920240"/>
            <a:ext cx="2194560" cy="6400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1920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258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Unique Licences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920240"/>
            <a:ext cx="2194560" cy="64008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920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58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Missing Licence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43200"/>
            <a:ext cx="254203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277063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2743200"/>
            <a:ext cx="126187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71215" y="2770632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743200"/>
            <a:ext cx="217627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51376" y="2770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743200"/>
            <a:ext cx="107899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277063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2743200"/>
            <a:ext cx="235915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3215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Licence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2743200"/>
            <a:ext cx="1444752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0655" y="2770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108960"/>
            <a:ext cx="25420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313639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spring-boot-starter-web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3108960"/>
            <a:ext cx="12618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1215" y="313639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3.2.1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108960"/>
            <a:ext cx="21762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51376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Pivotal / VMware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108960"/>
            <a:ext cx="10789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313639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3108960"/>
            <a:ext cx="2359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43215" y="3136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Apache-2.0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3108960"/>
            <a:ext cx="14447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0655" y="3136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493008"/>
            <a:ext cx="254203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35204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jackson-databind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39" y="3493008"/>
            <a:ext cx="12618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71215" y="352044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2.16.1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3493008"/>
            <a:ext cx="21762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51376" y="3520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FasterXML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493008"/>
            <a:ext cx="107899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45936" y="352044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493008"/>
            <a:ext cx="2359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43215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Apache-2.0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93008"/>
            <a:ext cx="14447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0655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877056"/>
            <a:ext cx="25420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39044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log4j-api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39" y="3877056"/>
            <a:ext cx="12618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71215" y="390448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2.22.1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0" y="3877056"/>
            <a:ext cx="21762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51376" y="3904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Apache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3877056"/>
            <a:ext cx="10789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45936" y="390448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06640" y="3877056"/>
            <a:ext cx="2359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43215" y="3904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Apache-2.0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84080" y="3877056"/>
            <a:ext cx="14447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20655" y="3904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261104"/>
            <a:ext cx="254203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" y="4288536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hibernate-core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4639" y="4261104"/>
            <a:ext cx="12618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71215" y="4288536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6.4.2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4261104"/>
            <a:ext cx="21762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51376" y="42885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Red Hat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60" y="4261104"/>
            <a:ext cx="107899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45936" y="428853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06640" y="4261104"/>
            <a:ext cx="2359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43215" y="42885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A06"/>
                </a:solidFill>
              </a:rPr>
              <a:t>LGPL-2.1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84080" y="4261104"/>
            <a:ext cx="14447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20655" y="4288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645152"/>
            <a:ext cx="25420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" y="4672584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commons-lang3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34639" y="4645152"/>
            <a:ext cx="12618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71215" y="4672584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3.14.0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0" y="4645152"/>
            <a:ext cx="21762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51376" y="46725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Apache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4645152"/>
            <a:ext cx="10789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45936" y="4672584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06640" y="4645152"/>
            <a:ext cx="2359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43215" y="46725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Apache-2.0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4645152"/>
            <a:ext cx="14447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20655" y="4672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5029200"/>
            <a:ext cx="254203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" y="505663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bouncy-castle-provider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34639" y="5029200"/>
            <a:ext cx="12618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71215" y="5056632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1.78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14800" y="5029200"/>
            <a:ext cx="21762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51376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Legion of the BC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5029200"/>
            <a:ext cx="107899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45936" y="505663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406640" y="5029200"/>
            <a:ext cx="2359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43215" y="5056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MIT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5029200"/>
            <a:ext cx="14447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820655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Optional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5413248"/>
            <a:ext cx="25420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54406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netty-handler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34639" y="5413248"/>
            <a:ext cx="12618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71215" y="5440680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4.1.107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14800" y="5413248"/>
            <a:ext cx="21762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51376" y="5440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Netty Project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5413248"/>
            <a:ext cx="107899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45936" y="544068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06640" y="5413248"/>
            <a:ext cx="23591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43215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Apache-2.0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784080" y="5413248"/>
            <a:ext cx="144475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820655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5797296"/>
            <a:ext cx="254203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" y="58247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unknown-lib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4639" y="5797296"/>
            <a:ext cx="12618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71215" y="582472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0.9.1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14800" y="5797296"/>
            <a:ext cx="217627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51376" y="5824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(unknown)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5797296"/>
            <a:ext cx="107899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45936" y="582472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06640" y="5797296"/>
            <a:ext cx="23591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443215" y="5824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UNKNOWN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784080" y="5797296"/>
            <a:ext cx="1444752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820655" y="5824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 Pipeline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From source code commit to vulnerability insight — fully 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182880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Source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202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993392"/>
            <a:ext cx="1709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Developer pushes to Git
Jenkins pipeline triggered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1031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417320"/>
            <a:ext cx="1828800" cy="475488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4813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SBOM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9202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1993392"/>
            <a:ext cx="1709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cdxgen or
cyclonedx-maven-plugin
creates sbom.json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1031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417320"/>
            <a:ext cx="18288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4813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Upload to DT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9202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1993392"/>
            <a:ext cx="1709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uploadSBOM() posts BOM
to Dependency-Track
via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21031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1417320"/>
            <a:ext cx="1828800" cy="475488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199" y="14813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Enrichment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79" y="19202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7" y="1993392"/>
            <a:ext cx="1709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DT resolves components
against NVD, OSV,
GitHub Advisories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21031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417320"/>
            <a:ext cx="1828800" cy="4754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4813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19202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1993392"/>
            <a:ext cx="1709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Vulnerabilities listed
by severity with
CVSS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1031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1417320"/>
            <a:ext cx="1828800" cy="47548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14813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Analysis &amp;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19202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1993392"/>
            <a:ext cx="17099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Team triages findings
PDF report generated
and archived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520440"/>
            <a:ext cx="1165860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520440"/>
            <a:ext cx="1165860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5661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 Shared Library — Key Pipeline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23360"/>
            <a:ext cx="181051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40507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7E8F9"/>
                </a:solidFill>
              </a:rPr>
              <a:t>cdxgenRepo()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Generate SBOM for any
language repo using cdxgen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4023360"/>
            <a:ext cx="181051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22576" y="40507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7E8F9"/>
                </a:solidFill>
              </a:rPr>
              <a:t>uploadSBOM()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2576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Upload SBOM and create/
update DT project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023360"/>
            <a:ext cx="181051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42816" y="40507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7E8F9"/>
                </a:solidFill>
              </a:rPr>
              <a:t>createDTCollectionProject()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42816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Group child projects into
an aggregate collection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023360"/>
            <a:ext cx="181051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3056" y="40507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7E8F9"/>
                </a:solidFill>
              </a:rPr>
              <a:t>exportDTReport()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3056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Generate vulnerability
PDF for one project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023360"/>
            <a:ext cx="181051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83296" y="40507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7E8F9"/>
                </a:solidFill>
              </a:rPr>
              <a:t>exportAllDTReports()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3296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Generate PDF for every
active DT project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4023360"/>
            <a:ext cx="181051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03536" y="405079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7E8F9"/>
                </a:solidFill>
              </a:rPr>
              <a:t>exportSBOMReport()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4434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Generate component
PDF for one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 Explorer &amp; Integration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Everything visible in the Dependency-Track UI is automatable via its REST API — enabling deep integration with your existing toolchain.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53312"/>
            <a:ext cx="539496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5394960" cy="40233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399032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Swagger UI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847088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Dependency-Track ships a built-in interactive OpenAPI / Swagger explorer.
Authenticate with your API key and execute every endpoint live: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395728"/>
            <a:ext cx="5138928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432304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7E8F9"/>
                </a:solidFill>
              </a:rPr>
              <a:t>http://&lt;dt-host&gt;/api/swagger-ui/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834640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Try any endpoint interactively before writing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3310128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POST a BOM and inspect the raw API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785616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Bulk-set analysis states via PUT /api/v1/analysis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261104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Pull live portfolio risk scores for Grafana feeds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4736592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Impact analysis — find every project using a component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5212080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Import dependencytrack-openapi.yaml into Postman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353312"/>
            <a:ext cx="598932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1353312"/>
            <a:ext cx="5989320" cy="402336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25896" y="1399032"/>
            <a:ext cx="5733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Integration Ecosystem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1847088"/>
            <a:ext cx="5733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Full visibility from developer laptop to boardroom: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25896" y="2231136"/>
            <a:ext cx="201168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258568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Jira / 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514600"/>
            <a:ext cx="54498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Auto-create issues from Critical findings;
sync analysis state back via webhook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25896" y="2980944"/>
            <a:ext cx="201168" cy="62179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08376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</a:rPr>
              <a:t>Splunk / Elasticsearch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64408"/>
            <a:ext cx="54498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Stream vulnerability events into your SIEM
for correlation and compliance alerting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25896" y="3730752"/>
            <a:ext cx="201168" cy="621792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58184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747C"/>
                </a:solidFill>
              </a:rPr>
              <a:t>Grafana 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014216"/>
            <a:ext cx="54498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Pull live risk scores from /metrics/portfolio
for real-time executive panels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25896" y="4480560"/>
            <a:ext cx="201168" cy="62179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507992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A06"/>
                </a:solidFill>
              </a:rPr>
              <a:t>MS Teams / Slack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764024"/>
            <a:ext cx="54498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Webhook notifications on new Critical or
High severity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25896" y="5230368"/>
            <a:ext cx="201168" cy="62179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25780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803D"/>
                </a:solidFill>
              </a:rPr>
              <a:t>PagerDuty / OpsGenie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513832"/>
            <a:ext cx="54498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Trigger on-call alerts when newly introduced
Critical vulnerabilities are detected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5896" y="5980175"/>
            <a:ext cx="201168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6007607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Executive 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263639"/>
            <a:ext cx="544982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Scheduled metrics export — from developer
laptop to boardroom in one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Benefits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288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SBOM &amp; Vulnerability Management | Dependency-Track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8404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6187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Complete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55648"/>
            <a:ext cx="36210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Every dependency — direct and transitive — is known and tracked. No blind spots in your software supply chain.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840480" cy="475488"/>
          </a:xfrm>
          <a:prstGeom prst="rect">
            <a:avLst/>
          </a:prstGeom>
          <a:solidFill>
            <a:srgbClr val="06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7" y="126187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Continuous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7" y="1755648"/>
            <a:ext cx="36210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New CVEs are automatically matched against your component inventory. You are notified without running a scan.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84048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26187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Structured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755648"/>
            <a:ext cx="36210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Analysis states, analyst comments, and suppression provide a governed workflow so decisions are documented and auditable.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3840480" cy="475488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86791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Automated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361688"/>
            <a:ext cx="36210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Shareable PDF reports generated on demand or on a schedule — no manual work needed to produce management-ready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79476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3794760"/>
            <a:ext cx="3840480" cy="4754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7" y="386791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Shift-Left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7" y="4361688"/>
            <a:ext cx="36210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In-house Maven builds upload SBOMs at build time, surfacing vulnerabilities before code reaches production.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9476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794760"/>
            <a:ext cx="3840480" cy="47548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867912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Policy Enforcement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361688"/>
            <a:ext cx="362102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Define rules for severity thresholds and licence types. Violations break the build before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